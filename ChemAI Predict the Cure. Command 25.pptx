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53"/>
  </p:normalViewPr>
  <p:slideViewPr>
    <p:cSldViewPr snapToGrid="0">
      <p:cViewPr varScale="1">
        <p:scale>
          <a:sx n="113" d="100"/>
          <a:sy n="113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AM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32DFC68-9333-4DD0-BC7C-19A87F2E2AB3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C71B5C3-D557-42EF-A7DB-ED7C388510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0225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AM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DFC68-9333-4DD0-BC7C-19A87F2E2AB3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9C71B5C3-D557-42EF-A7DB-ED7C388510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022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32DFC68-9333-4DD0-BC7C-19A87F2E2AB3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C71B5C3-D557-42EF-A7DB-ED7C388510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7743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DFC68-9333-4DD0-BC7C-19A87F2E2AB3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B5C3-D557-42EF-A7DB-ED7C388510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582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DFC68-9333-4DD0-BC7C-19A87F2E2AB3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B5C3-D557-42EF-A7DB-ED7C388510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2469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DFC68-9333-4DD0-BC7C-19A87F2E2AB3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B5C3-D557-42EF-A7DB-ED7C3885109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123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DFC68-9333-4DD0-BC7C-19A87F2E2AB3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B5C3-D557-42EF-A7DB-ED7C388510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7108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32DFC68-9333-4DD0-BC7C-19A87F2E2AB3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C71B5C3-D557-42EF-A7DB-ED7C388510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820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DFC68-9333-4DD0-BC7C-19A87F2E2AB3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B5C3-D557-42EF-A7DB-ED7C388510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8043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DFC68-9333-4DD0-BC7C-19A87F2E2AB3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B5C3-D557-42EF-A7DB-ED7C388510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05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32DFC68-9333-4DD0-BC7C-19A87F2E2AB3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C71B5C3-D557-42EF-A7DB-ED7C388510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966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32DFC68-9333-4DD0-BC7C-19A87F2E2AB3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C71B5C3-D557-42EF-A7DB-ED7C3885109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AM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AM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AM"/>
          </a:p>
        </p:txBody>
      </p:sp>
    </p:spTree>
    <p:extLst>
      <p:ext uri="{BB962C8B-B14F-4D97-AF65-F5344CB8AC3E}">
        <p14:creationId xmlns:p14="http://schemas.microsoft.com/office/powerpoint/2010/main" val="333546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12119D-1032-0A57-2B95-AC33D25B77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ChemAI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Predict the Cure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Предсказание противовирусной активности молекул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FFBD07F-59CD-2B92-48DA-4B143DE1A2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A49EA2-7ED3-8E12-B4E0-BC5A0F8FFAFD}"/>
              </a:ext>
            </a:extLst>
          </p:cNvPr>
          <p:cNvSpPr txBox="1"/>
          <p:nvPr/>
        </p:nvSpPr>
        <p:spPr>
          <a:xfrm>
            <a:off x="5643171" y="3765405"/>
            <a:ext cx="58048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b="1" dirty="0">
                <a:solidFill>
                  <a:schemeClr val="bg1"/>
                </a:solidFill>
              </a:rPr>
              <a:t>Команда 25: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Андрей Гореликов</a:t>
            </a:r>
          </a:p>
          <a:p>
            <a:pPr algn="r"/>
            <a:r>
              <a:rPr lang="ru-RU" dirty="0">
                <a:solidFill>
                  <a:schemeClr val="bg1"/>
                </a:solidFill>
              </a:rPr>
              <a:t>Кирилл Лозовой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Виктория Шинкаренко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Мария </a:t>
            </a:r>
            <a:r>
              <a:rPr lang="ru-RU" dirty="0" err="1">
                <a:solidFill>
                  <a:schemeClr val="bg1"/>
                </a:solidFill>
              </a:rPr>
              <a:t>Веникова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Александр Евдокимов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57C2839-CAA6-5AC1-21C5-98134233BD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65" y="3422141"/>
            <a:ext cx="4899206" cy="24408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1DA9D3-BFC5-B926-9A8B-0225FD85BDE5}"/>
              </a:ext>
            </a:extLst>
          </p:cNvPr>
          <p:cNvSpPr txBox="1"/>
          <p:nvPr/>
        </p:nvSpPr>
        <p:spPr>
          <a:xfrm>
            <a:off x="2552700" y="5708667"/>
            <a:ext cx="708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br>
              <a:rPr lang="ru-RU" dirty="0"/>
            </a:b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ChemAI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Hackathon  2026</a:t>
            </a:r>
          </a:p>
        </p:txBody>
      </p:sp>
    </p:spTree>
    <p:extLst>
      <p:ext uri="{BB962C8B-B14F-4D97-AF65-F5344CB8AC3E}">
        <p14:creationId xmlns:p14="http://schemas.microsoft.com/office/powerpoint/2010/main" val="3805450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B0F826-4112-9DBD-6CDB-ABDBB7097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Задача и данные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66963D-46F3-2007-761A-00E9F451F966}"/>
              </a:ext>
            </a:extLst>
          </p:cNvPr>
          <p:cNvSpPr/>
          <p:nvPr/>
        </p:nvSpPr>
        <p:spPr>
          <a:xfrm>
            <a:off x="581192" y="2095901"/>
            <a:ext cx="5394960" cy="347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Задача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2462B59E-AF3A-DCF6-FC95-B5711651EA00}"/>
              </a:ext>
            </a:extLst>
          </p:cNvPr>
          <p:cNvSpPr/>
          <p:nvPr/>
        </p:nvSpPr>
        <p:spPr>
          <a:xfrm>
            <a:off x="569162" y="4282296"/>
            <a:ext cx="5394960" cy="347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Данные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6329FA52-DC4F-49FF-EC60-67BE2FE2F32A}"/>
              </a:ext>
            </a:extLst>
          </p:cNvPr>
          <p:cNvSpPr/>
          <p:nvPr/>
        </p:nvSpPr>
        <p:spPr>
          <a:xfrm>
            <a:off x="6215850" y="2134263"/>
            <a:ext cx="5394960" cy="347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Три факта, которые определили решение:</a:t>
            </a:r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304DEF75-411C-942E-F868-7A6290E5781C}"/>
              </a:ext>
            </a:extLst>
          </p:cNvPr>
          <p:cNvSpPr/>
          <p:nvPr/>
        </p:nvSpPr>
        <p:spPr>
          <a:xfrm>
            <a:off x="6665495" y="2706334"/>
            <a:ext cx="4945311" cy="903140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Длинный правый хвост у всех </a:t>
            </a:r>
            <a:r>
              <a:rPr lang="ru-RU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таргетов</a:t>
            </a:r>
            <a:endParaRPr lang="ru-RU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99 в десятки раз больше медианы →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target-transform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важен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6C0154-8AB9-3607-B0F2-D7627D26E444}"/>
              </a:ext>
            </a:extLst>
          </p:cNvPr>
          <p:cNvSpPr/>
          <p:nvPr/>
        </p:nvSpPr>
        <p:spPr>
          <a:xfrm>
            <a:off x="6665494" y="3830996"/>
            <a:ext cx="4945311" cy="903140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Дубликаты дескрипторов</a:t>
            </a:r>
          </a:p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60 групп, до 16 строк в одной →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GroupKFold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обязателен</a:t>
            </a: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0A87272F-DC00-F5F0-BB08-C945EC97988F}"/>
              </a:ext>
            </a:extLst>
          </p:cNvPr>
          <p:cNvSpPr/>
          <p:nvPr/>
        </p:nvSpPr>
        <p:spPr>
          <a:xfrm>
            <a:off x="6665493" y="4955658"/>
            <a:ext cx="4945311" cy="903140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t-I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 ≈ CC50 / IC50   (corr = 1.00)</a:t>
            </a:r>
            <a:endParaRPr lang="ru-RU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связь есть, но заменить формулой нельзя - шум, округления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3881802-3378-260B-997E-AF3DFD87E52E}"/>
              </a:ext>
            </a:extLst>
          </p:cNvPr>
          <p:cNvSpPr/>
          <p:nvPr/>
        </p:nvSpPr>
        <p:spPr>
          <a:xfrm>
            <a:off x="6215850" y="2706334"/>
            <a:ext cx="449642" cy="90314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</a:t>
            </a:r>
            <a:endParaRPr lang="ru-RU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30EE4F3-B6F0-7532-88E8-EE330A550988}"/>
              </a:ext>
            </a:extLst>
          </p:cNvPr>
          <p:cNvSpPr/>
          <p:nvPr/>
        </p:nvSpPr>
        <p:spPr>
          <a:xfrm>
            <a:off x="6227879" y="3830996"/>
            <a:ext cx="449642" cy="90314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</a:t>
            </a:r>
            <a:endParaRPr lang="ru-RU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E58F8E1-C4E1-6143-6355-6C5C104281DE}"/>
              </a:ext>
            </a:extLst>
          </p:cNvPr>
          <p:cNvSpPr/>
          <p:nvPr/>
        </p:nvSpPr>
        <p:spPr>
          <a:xfrm>
            <a:off x="6215848" y="4955658"/>
            <a:ext cx="449642" cy="90314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n>
                  <a:solidFill>
                    <a:schemeClr val="tx1"/>
                  </a:solidFill>
                </a:ln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</a:t>
            </a:r>
            <a:endParaRPr lang="ru-RU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AD7FA2-7B47-0356-AF7B-BF10F8607C4E}"/>
              </a:ext>
            </a:extLst>
          </p:cNvPr>
          <p:cNvSpPr txBox="1"/>
          <p:nvPr/>
        </p:nvSpPr>
        <p:spPr>
          <a:xfrm>
            <a:off x="581190" y="2527969"/>
            <a:ext cx="53829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IC50, </a:t>
            </a:r>
            <a:r>
              <a:rPr lang="ru-RU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mM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концентрация подавления вируса на 50%</a:t>
            </a:r>
          </a:p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CC50, </a:t>
            </a:r>
            <a:r>
              <a:rPr lang="ru-RU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mM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концентрация токсичности для клеток</a:t>
            </a:r>
          </a:p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индекс селективности</a:t>
            </a:r>
          </a:p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Метрика: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среднее RMSE по трём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таргетам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(исходная шкала)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D29403-C24D-E305-CC38-57F26229285C}"/>
              </a:ext>
            </a:extLst>
          </p:cNvPr>
          <p:cNvSpPr txBox="1"/>
          <p:nvPr/>
        </p:nvSpPr>
        <p:spPr>
          <a:xfrm>
            <a:off x="581192" y="4807063"/>
            <a:ext cx="5394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751 строка  ·  Test  250 строк</a:t>
            </a:r>
          </a:p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210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RDKit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-дескрипторов, 192 после удаления константных</a:t>
            </a:r>
          </a:p>
          <a:p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723818-4E9C-CDA4-16A3-804F91F3C335}"/>
              </a:ext>
            </a:extLst>
          </p:cNvPr>
          <p:cNvSpPr txBox="1"/>
          <p:nvPr/>
        </p:nvSpPr>
        <p:spPr>
          <a:xfrm>
            <a:off x="274320" y="6556248"/>
            <a:ext cx="171232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ChemAI</a:t>
            </a:r>
            <a:r>
              <a:rPr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Predict the Cure   ·   2/6</a:t>
            </a:r>
          </a:p>
        </p:txBody>
      </p:sp>
    </p:spTree>
    <p:extLst>
      <p:ext uri="{BB962C8B-B14F-4D97-AF65-F5344CB8AC3E}">
        <p14:creationId xmlns:p14="http://schemas.microsoft.com/office/powerpoint/2010/main" val="1980231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4C577A-DD86-75EB-98D0-384C70377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Валидация и модели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EE2134F-0C67-F054-DF51-3196ED6F33CF}"/>
              </a:ext>
            </a:extLst>
          </p:cNvPr>
          <p:cNvSpPr/>
          <p:nvPr/>
        </p:nvSpPr>
        <p:spPr>
          <a:xfrm>
            <a:off x="581192" y="2180496"/>
            <a:ext cx="4114800" cy="3474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Валидация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7A27E6-3912-3B64-8029-A60D34E464D4}"/>
              </a:ext>
            </a:extLst>
          </p:cNvPr>
          <p:cNvSpPr txBox="1"/>
          <p:nvPr/>
        </p:nvSpPr>
        <p:spPr>
          <a:xfrm>
            <a:off x="581192" y="2552716"/>
            <a:ext cx="41148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 данных 60 групп дублирующихся дескрипторов.</a:t>
            </a:r>
          </a:p>
          <a:p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Обычный </a:t>
            </a:r>
            <a:r>
              <a:rPr lang="ru-RU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KFold</a:t>
            </a: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даёт завышенную оценку - одинаковые молекулы в </a:t>
            </a:r>
            <a:r>
              <a:rPr lang="ru-RU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</a:t>
            </a: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ru-RU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</a:t>
            </a: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одновременно.</a:t>
            </a:r>
          </a:p>
          <a:p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 </a:t>
            </a:r>
            <a:r>
              <a:rPr lang="ru-RU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GroupKFold</a:t>
            </a: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(n=5) по </a:t>
            </a:r>
            <a:r>
              <a:rPr lang="ru-RU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хешу</a:t>
            </a: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дескрипторов</a:t>
            </a:r>
          </a:p>
          <a:p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Группа целиком уходит в один </a:t>
            </a:r>
            <a:r>
              <a:rPr lang="ru-RU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fold</a:t>
            </a: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OOF ~511   </a:t>
            </a:r>
            <a:r>
              <a:rPr lang="ru-RU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</a:t>
            </a: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ru-RU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</a:t>
            </a: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~265</a:t>
            </a:r>
          </a:p>
          <a:p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Большой </a:t>
            </a:r>
            <a:r>
              <a:rPr lang="ru-RU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</a:t>
            </a: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ожидаемый, валидация строгая.</a:t>
            </a:r>
          </a:p>
          <a:p>
            <a:endParaRPr lang="ru-RU" sz="160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3FEF723-A064-9A80-FE7D-212C7CF9F37A}"/>
              </a:ext>
            </a:extLst>
          </p:cNvPr>
          <p:cNvSpPr/>
          <p:nvPr/>
        </p:nvSpPr>
        <p:spPr>
          <a:xfrm>
            <a:off x="581192" y="5344565"/>
            <a:ext cx="4114800" cy="347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Постобработка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979296-44A5-56DE-844F-910944F6698D}"/>
              </a:ext>
            </a:extLst>
          </p:cNvPr>
          <p:cNvSpPr txBox="1"/>
          <p:nvPr/>
        </p:nvSpPr>
        <p:spPr>
          <a:xfrm>
            <a:off x="484271" y="5694179"/>
            <a:ext cx="42117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IC50 cap = 2200 : </a:t>
            </a: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p99 = max = 2200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 = sqrt + 1.02 · (log1p − sqrt)</a:t>
            </a:r>
          </a:p>
          <a:p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Ручных правок строк не делали.</a:t>
            </a:r>
          </a:p>
        </p:txBody>
      </p:sp>
      <p:sp>
        <p:nvSpPr>
          <p:cNvPr id="9" name="Rectangle 36">
            <a:extLst>
              <a:ext uri="{FF2B5EF4-FFF2-40B4-BE49-F238E27FC236}">
                <a16:creationId xmlns:a16="http://schemas.microsoft.com/office/drawing/2014/main" id="{2F2CBFB9-D251-08DE-735D-581FB0D61B50}"/>
              </a:ext>
            </a:extLst>
          </p:cNvPr>
          <p:cNvSpPr/>
          <p:nvPr/>
        </p:nvSpPr>
        <p:spPr>
          <a:xfrm>
            <a:off x="5197642" y="4306721"/>
            <a:ext cx="6510086" cy="2217871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Зачем три ветки?</a:t>
            </a:r>
          </a:p>
          <a:p>
            <a:endParaRPr lang="ru-RU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Таргеты IC50/CC50 и SI имеют разные хвосты.</a:t>
            </a:r>
          </a:p>
          <a:p>
            <a:r>
              <a:rPr lang="ru-RU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raw</a:t>
            </a:r>
            <a:r>
              <a:rPr lang="ru-RU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-ветка хорошо работает там, где выброс редкий.</a:t>
            </a:r>
          </a:p>
          <a:p>
            <a:r>
              <a:rPr lang="ru-RU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sqrt</a:t>
            </a:r>
            <a:r>
              <a:rPr lang="ru-RU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и log1p сжимают хвост и лучше работают на SI, где p99 в 300× больше медианы.</a:t>
            </a:r>
          </a:p>
          <a:p>
            <a:endParaRPr lang="ru-RU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Смешиваем: SI = </a:t>
            </a:r>
            <a:r>
              <a:rPr lang="ru-RU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sqrt</a:t>
            </a:r>
            <a:r>
              <a:rPr lang="ru-RU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+ 1.02·(log1p − </a:t>
            </a:r>
            <a:r>
              <a:rPr lang="ru-RU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sqrt</a:t>
            </a:r>
            <a:r>
              <a:rPr lang="ru-RU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ru-RU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Главный скачок:  277.3 → 265.3  (−12 RMSE)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6C578ACA-4FAD-CF05-0C58-3DFE304B1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701578"/>
              </p:ext>
            </p:extLst>
          </p:nvPr>
        </p:nvGraphicFramePr>
        <p:xfrm>
          <a:off x="5087020" y="2530748"/>
          <a:ext cx="6620708" cy="15866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6453">
                  <a:extLst>
                    <a:ext uri="{9D8B030D-6E8A-4147-A177-3AD203B41FA5}">
                      <a16:colId xmlns:a16="http://schemas.microsoft.com/office/drawing/2014/main" val="3523754338"/>
                    </a:ext>
                  </a:extLst>
                </a:gridCol>
                <a:gridCol w="2897352">
                  <a:extLst>
                    <a:ext uri="{9D8B030D-6E8A-4147-A177-3AD203B41FA5}">
                      <a16:colId xmlns:a16="http://schemas.microsoft.com/office/drawing/2014/main" val="604722294"/>
                    </a:ext>
                  </a:extLst>
                </a:gridCol>
                <a:gridCol w="2206903">
                  <a:extLst>
                    <a:ext uri="{9D8B030D-6E8A-4147-A177-3AD203B41FA5}">
                      <a16:colId xmlns:a16="http://schemas.microsoft.com/office/drawing/2014/main" val="2622898083"/>
                    </a:ext>
                  </a:extLst>
                </a:gridCol>
              </a:tblGrid>
              <a:tr h="33585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Ветка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Модели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Используем для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191103"/>
                  </a:ext>
                </a:extLst>
              </a:tr>
              <a:tr h="33585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raw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KernelRidge+ExtraTrees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IC50, CC50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492618"/>
                  </a:ext>
                </a:extLst>
              </a:tr>
              <a:tr h="33585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sqrt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CatBoost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+ </a:t>
                      </a:r>
                      <a:r>
                        <a:rPr lang="en-US" sz="16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ExtraTrees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+ </a:t>
                      </a:r>
                      <a:r>
                        <a:rPr lang="en-US" sz="16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KernelRidge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 (</a:t>
                      </a:r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основа)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391290"/>
                  </a:ext>
                </a:extLst>
              </a:tr>
              <a:tr h="33585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log1p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CatBoost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+  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 (</a:t>
                      </a:r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добавка)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965934"/>
                  </a:ext>
                </a:extLst>
              </a:tr>
            </a:tbl>
          </a:graphicData>
        </a:graphic>
      </p:graphicFrame>
      <p:sp>
        <p:nvSpPr>
          <p:cNvPr id="11" name="Rectangle 4">
            <a:extLst>
              <a:ext uri="{FF2B5EF4-FFF2-40B4-BE49-F238E27FC236}">
                <a16:creationId xmlns:a16="http://schemas.microsoft.com/office/drawing/2014/main" id="{C82BDCF6-7D0D-E555-1CF0-5961B187B77A}"/>
              </a:ext>
            </a:extLst>
          </p:cNvPr>
          <p:cNvSpPr/>
          <p:nvPr/>
        </p:nvSpPr>
        <p:spPr>
          <a:xfrm>
            <a:off x="5087019" y="2176539"/>
            <a:ext cx="6620709" cy="3474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Три ветки по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target-transform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44EE9E9-DE40-EA0F-C2D0-35A45AE2FA3E}"/>
              </a:ext>
            </a:extLst>
          </p:cNvPr>
          <p:cNvSpPr/>
          <p:nvPr/>
        </p:nvSpPr>
        <p:spPr>
          <a:xfrm>
            <a:off x="5087019" y="4307305"/>
            <a:ext cx="98592" cy="22178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755024-595A-04B8-9612-0D79CDAFB72D}"/>
              </a:ext>
            </a:extLst>
          </p:cNvPr>
          <p:cNvSpPr txBox="1"/>
          <p:nvPr/>
        </p:nvSpPr>
        <p:spPr>
          <a:xfrm>
            <a:off x="274320" y="6556248"/>
            <a:ext cx="171232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ChemAI</a:t>
            </a:r>
            <a:r>
              <a:rPr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Predict the Cure   ·   </a:t>
            </a:r>
            <a:r>
              <a: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/6</a:t>
            </a:r>
          </a:p>
        </p:txBody>
      </p:sp>
    </p:spTree>
    <p:extLst>
      <p:ext uri="{BB962C8B-B14F-4D97-AF65-F5344CB8AC3E}">
        <p14:creationId xmlns:p14="http://schemas.microsoft.com/office/powerpoint/2010/main" val="2769722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2300D2-B39E-7143-A011-60253FC1A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Pipeline end-to-end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A4252-AFA4-E944-7285-C63C9910F133}"/>
              </a:ext>
            </a:extLst>
          </p:cNvPr>
          <p:cNvSpPr txBox="1"/>
          <p:nvPr/>
        </p:nvSpPr>
        <p:spPr>
          <a:xfrm>
            <a:off x="442762" y="1788206"/>
            <a:ext cx="11064240" cy="32008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1600" b="0" dirty="0" err="1">
                <a:solidFill>
                  <a:srgbClr val="5260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Один</a:t>
            </a:r>
            <a:r>
              <a:rPr sz="1600" b="0" dirty="0">
                <a:solidFill>
                  <a:srgbClr val="5260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0" dirty="0" err="1">
                <a:solidFill>
                  <a:srgbClr val="5260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воспроизводимый</a:t>
            </a:r>
            <a:r>
              <a:rPr sz="1600" b="0" dirty="0">
                <a:solidFill>
                  <a:srgbClr val="5260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0" dirty="0" err="1">
                <a:solidFill>
                  <a:srgbClr val="5260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путь</a:t>
            </a:r>
            <a:r>
              <a:rPr sz="1600" b="0" dirty="0">
                <a:solidFill>
                  <a:srgbClr val="5260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0" dirty="0" err="1">
                <a:solidFill>
                  <a:srgbClr val="5260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от</a:t>
            </a:r>
            <a:r>
              <a:rPr sz="1600" b="0" dirty="0">
                <a:solidFill>
                  <a:srgbClr val="5260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0" dirty="0" err="1">
                <a:solidFill>
                  <a:srgbClr val="5260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исходных</a:t>
            </a:r>
            <a:r>
              <a:rPr sz="1600" b="0" dirty="0">
                <a:solidFill>
                  <a:srgbClr val="5260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CSV </a:t>
            </a:r>
            <a:r>
              <a:rPr sz="1600" b="0" dirty="0" err="1">
                <a:solidFill>
                  <a:srgbClr val="5260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</a:t>
            </a:r>
            <a:r>
              <a:rPr sz="1600" b="0" dirty="0">
                <a:solidFill>
                  <a:srgbClr val="5260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0" dirty="0" err="1">
                <a:solidFill>
                  <a:srgbClr val="5260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финального</a:t>
            </a:r>
            <a:r>
              <a:rPr sz="1600" b="0" dirty="0">
                <a:solidFill>
                  <a:srgbClr val="5260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submission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D5D8EF69-7380-85FD-3E92-6FA7729E1396}"/>
              </a:ext>
            </a:extLst>
          </p:cNvPr>
          <p:cNvSpPr/>
          <p:nvPr/>
        </p:nvSpPr>
        <p:spPr>
          <a:xfrm>
            <a:off x="484671" y="2180544"/>
            <a:ext cx="2026518" cy="995840"/>
          </a:xfrm>
          <a:prstGeom prst="roundRect">
            <a:avLst/>
          </a:prstGeom>
          <a:solidFill>
            <a:srgbClr val="E8F2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Данные</a:t>
            </a:r>
          </a:p>
          <a:p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train/test/sample</a:t>
            </a:r>
            <a:r>
              <a:rPr lang="ru-RU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214 → 192 </a:t>
            </a:r>
            <a:r>
              <a:rPr lang="en-US" sz="1600" dirty="0" err="1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признака</a:t>
            </a:r>
            <a:endParaRPr lang="en-US" sz="1600" dirty="0">
              <a:solidFill>
                <a:srgbClr val="1F293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ounded Rectangle 11">
            <a:extLst>
              <a:ext uri="{FF2B5EF4-FFF2-40B4-BE49-F238E27FC236}">
                <a16:creationId xmlns:a16="http://schemas.microsoft.com/office/drawing/2014/main" id="{B67E842B-0F5A-3C61-E87A-8940E36056C8}"/>
              </a:ext>
            </a:extLst>
          </p:cNvPr>
          <p:cNvSpPr/>
          <p:nvPr/>
        </p:nvSpPr>
        <p:spPr>
          <a:xfrm>
            <a:off x="2768565" y="2195096"/>
            <a:ext cx="2087077" cy="1017588"/>
          </a:xfrm>
          <a:prstGeom prst="roundRect">
            <a:avLst/>
          </a:prstGeom>
          <a:solidFill>
            <a:srgbClr val="F3F7FB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EDA </a:t>
            </a:r>
            <a:b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хвосты </a:t>
            </a:r>
            <a:r>
              <a:rPr lang="ru-RU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таргетов</a:t>
            </a:r>
            <a:br>
              <a:rPr lang="ru-RU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дубликаты </a:t>
            </a:r>
            <a:r>
              <a:rPr lang="ru-RU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дескриптов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ounded Rectangle 16">
            <a:extLst>
              <a:ext uri="{FF2B5EF4-FFF2-40B4-BE49-F238E27FC236}">
                <a16:creationId xmlns:a16="http://schemas.microsoft.com/office/drawing/2014/main" id="{08BD98FE-FBA4-0269-CCAE-F78954F79784}"/>
              </a:ext>
            </a:extLst>
          </p:cNvPr>
          <p:cNvSpPr/>
          <p:nvPr/>
        </p:nvSpPr>
        <p:spPr>
          <a:xfrm>
            <a:off x="5113019" y="2158747"/>
            <a:ext cx="2087077" cy="1053937"/>
          </a:xfrm>
          <a:prstGeom prst="roundRect">
            <a:avLst/>
          </a:prstGeom>
          <a:solidFill>
            <a:srgbClr val="FFF7DD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CV</a:t>
            </a:r>
            <a:b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 err="1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GroupKFold</a:t>
            </a: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 </a:t>
            </a: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hash</a:t>
            </a:r>
          </a:p>
          <a:p>
            <a:pPr algn="ctr"/>
            <a:r>
              <a:rPr lang="ru-RU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без </a:t>
            </a: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leakage </a:t>
            </a:r>
            <a:r>
              <a:rPr lang="ru-RU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дубликатов</a:t>
            </a:r>
          </a:p>
        </p:txBody>
      </p:sp>
      <p:sp>
        <p:nvSpPr>
          <p:cNvPr id="8" name="Rounded Rectangle 21">
            <a:extLst>
              <a:ext uri="{FF2B5EF4-FFF2-40B4-BE49-F238E27FC236}">
                <a16:creationId xmlns:a16="http://schemas.microsoft.com/office/drawing/2014/main" id="{173D7A08-7DED-35E8-F91E-183D8A7CCF86}"/>
              </a:ext>
            </a:extLst>
          </p:cNvPr>
          <p:cNvSpPr/>
          <p:nvPr/>
        </p:nvSpPr>
        <p:spPr>
          <a:xfrm>
            <a:off x="7457472" y="2195095"/>
            <a:ext cx="2087077" cy="1053937"/>
          </a:xfrm>
          <a:prstGeom prst="roundRect">
            <a:avLst/>
          </a:prstGeom>
          <a:solidFill>
            <a:srgbClr val="E8F2F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ru-RU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Модели</a:t>
            </a:r>
            <a:br>
              <a:rPr lang="ru-RU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1600" dirty="0" err="1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raw</a:t>
            </a:r>
            <a:r>
              <a:rPr lang="ru-RU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</a:t>
            </a:r>
            <a:r>
              <a:rPr lang="ru-RU" sz="1600" dirty="0" err="1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sqrt</a:t>
            </a:r>
            <a:r>
              <a:rPr lang="ru-RU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log1p</a:t>
            </a:r>
          </a:p>
          <a:p>
            <a:r>
              <a:rPr lang="ru-RU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ансамбль по веткам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ounded Rectangle 26">
            <a:extLst>
              <a:ext uri="{FF2B5EF4-FFF2-40B4-BE49-F238E27FC236}">
                <a16:creationId xmlns:a16="http://schemas.microsoft.com/office/drawing/2014/main" id="{99801172-AA98-9B0A-2CF6-59C3149C8478}"/>
              </a:ext>
            </a:extLst>
          </p:cNvPr>
          <p:cNvSpPr/>
          <p:nvPr/>
        </p:nvSpPr>
        <p:spPr>
          <a:xfrm>
            <a:off x="9783278" y="2195096"/>
            <a:ext cx="1924051" cy="1053936"/>
          </a:xfrm>
          <a:prstGeom prst="roundRect">
            <a:avLst/>
          </a:prstGeom>
          <a:solidFill>
            <a:srgbClr val="E8F7E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</a:t>
            </a: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Postprocess</a:t>
            </a:r>
            <a:b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nn-NO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IC50 cap 2200</a:t>
            </a:r>
          </a:p>
          <a:p>
            <a:r>
              <a:rPr lang="nn-NO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 sqrt/log blend</a:t>
            </a:r>
          </a:p>
        </p:txBody>
      </p:sp>
      <p:sp>
        <p:nvSpPr>
          <p:cNvPr id="10" name="Rounded Rectangle 31">
            <a:extLst>
              <a:ext uri="{FF2B5EF4-FFF2-40B4-BE49-F238E27FC236}">
                <a16:creationId xmlns:a16="http://schemas.microsoft.com/office/drawing/2014/main" id="{880B3AC1-B562-FE8D-7612-E35C51CD5DA1}"/>
              </a:ext>
            </a:extLst>
          </p:cNvPr>
          <p:cNvSpPr/>
          <p:nvPr/>
        </p:nvSpPr>
        <p:spPr>
          <a:xfrm>
            <a:off x="523440" y="3808825"/>
            <a:ext cx="5074920" cy="1417320"/>
          </a:xfrm>
          <a:prstGeom prst="roundRect">
            <a:avLst/>
          </a:prstGeom>
          <a:solidFill>
            <a:srgbClr val="F3F7FB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Baseline </a:t>
            </a:r>
            <a:r>
              <a:rPr lang="ru-RU" sz="16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без внешних данных</a:t>
            </a:r>
          </a:p>
          <a:p>
            <a:r>
              <a:rPr lang="en-US" sz="1600" dirty="0" err="1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KernelRidge</a:t>
            </a: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US" sz="1600" dirty="0" err="1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ExtraTrees</a:t>
            </a: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дают </a:t>
            </a: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IC50/CC50 </a:t>
            </a:r>
            <a:r>
              <a:rPr lang="ru-RU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 </a:t>
            </a: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raw-</a:t>
            </a:r>
            <a:r>
              <a:rPr lang="ru-RU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шкале.</a:t>
            </a:r>
          </a:p>
          <a:p>
            <a:r>
              <a:rPr lang="en-US" sz="1600" dirty="0" err="1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CatBoost</a:t>
            </a: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600" dirty="0" err="1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ExtraTrees</a:t>
            </a: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600" dirty="0" err="1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KernelRidge</a:t>
            </a: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/SVR </a:t>
            </a:r>
            <a:r>
              <a:rPr lang="ru-RU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дают </a:t>
            </a: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 </a:t>
            </a:r>
            <a:r>
              <a:rPr lang="ru-RU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через </a:t>
            </a: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sqrt/log1p.</a:t>
            </a:r>
          </a:p>
          <a:p>
            <a:r>
              <a:rPr lang="ru-RU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Результат ветки: </a:t>
            </a: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≈ 265.31.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1A1DEC5D-3C50-2B30-30CB-144C25C3405B}"/>
              </a:ext>
            </a:extLst>
          </p:cNvPr>
          <p:cNvSpPr/>
          <p:nvPr/>
        </p:nvSpPr>
        <p:spPr>
          <a:xfrm>
            <a:off x="6432082" y="3808825"/>
            <a:ext cx="5074920" cy="1417320"/>
          </a:xfrm>
          <a:prstGeom prst="roundRect">
            <a:avLst/>
          </a:prstGeom>
          <a:solidFill>
            <a:srgbClr val="E8F7EF"/>
          </a:solidFill>
          <a:ln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Финальное улучшение </a:t>
            </a:r>
            <a:r>
              <a:rPr lang="en-US" sz="16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CC50</a:t>
            </a:r>
          </a:p>
          <a:p>
            <a:r>
              <a:rPr lang="en-US" sz="1600" dirty="0" err="1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ChEMBL</a:t>
            </a: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 добавляем напрямую в </a:t>
            </a: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train.</a:t>
            </a:r>
          </a:p>
          <a:p>
            <a:r>
              <a:rPr lang="ru-RU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Сначала строим </a:t>
            </a: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external_cc50_prediction, </a:t>
            </a:r>
            <a:r>
              <a:rPr lang="ru-RU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затем используем его как +1 </a:t>
            </a: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meta-feature.</a:t>
            </a:r>
          </a:p>
          <a:p>
            <a:r>
              <a:rPr lang="ru-RU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Финал </a:t>
            </a: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b15: public ≈ 264.30.</a:t>
            </a:r>
          </a:p>
        </p:txBody>
      </p:sp>
      <p:sp>
        <p:nvSpPr>
          <p:cNvPr id="12" name="Rounded Rectangle 41">
            <a:extLst>
              <a:ext uri="{FF2B5EF4-FFF2-40B4-BE49-F238E27FC236}">
                <a16:creationId xmlns:a16="http://schemas.microsoft.com/office/drawing/2014/main" id="{9D787A69-6B5E-B22E-EE2F-C54CDA6C1701}"/>
              </a:ext>
            </a:extLst>
          </p:cNvPr>
          <p:cNvSpPr/>
          <p:nvPr/>
        </p:nvSpPr>
        <p:spPr>
          <a:xfrm>
            <a:off x="739942" y="5664642"/>
            <a:ext cx="10469880" cy="685800"/>
          </a:xfrm>
          <a:prstGeom prst="roundRect">
            <a:avLst/>
          </a:prstGeom>
          <a:solidFill>
            <a:srgbClr val="FFEEEE"/>
          </a:solidFill>
          <a:ln>
            <a:solidFill>
              <a:srgbClr val="F0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Честность решения: не ищем </a:t>
            </a:r>
            <a:r>
              <a:rPr lang="ru-RU" b="1" dirty="0" err="1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</a:t>
            </a:r>
            <a:r>
              <a:rPr lang="ru-RU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-ответы, не делаем ручную правку отдельных строк, </a:t>
            </a:r>
            <a:r>
              <a:rPr lang="ru-RU" b="1" dirty="0" err="1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</a:t>
            </a:r>
            <a:r>
              <a:rPr lang="ru-RU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ru-RU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используется только как обучающий сигнал для CC50.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124809C1-B8A0-A0DA-C1B1-847ECD9A1C7C}"/>
              </a:ext>
            </a:extLst>
          </p:cNvPr>
          <p:cNvCxnSpPr>
            <a:endCxn id="10" idx="0"/>
          </p:cNvCxnSpPr>
          <p:nvPr/>
        </p:nvCxnSpPr>
        <p:spPr>
          <a:xfrm flipH="1">
            <a:off x="3060900" y="3212684"/>
            <a:ext cx="1794742" cy="59614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5C21B1BE-F562-A09A-ADEF-7ED657DEDE9D}"/>
              </a:ext>
            </a:extLst>
          </p:cNvPr>
          <p:cNvCxnSpPr>
            <a:endCxn id="11" idx="0"/>
          </p:cNvCxnSpPr>
          <p:nvPr/>
        </p:nvCxnSpPr>
        <p:spPr>
          <a:xfrm>
            <a:off x="4855642" y="3212684"/>
            <a:ext cx="4113900" cy="59614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953025B-51D7-CAD6-62DE-D7FA509095E4}"/>
              </a:ext>
            </a:extLst>
          </p:cNvPr>
          <p:cNvSpPr txBox="1"/>
          <p:nvPr/>
        </p:nvSpPr>
        <p:spPr>
          <a:xfrm>
            <a:off x="274320" y="6556248"/>
            <a:ext cx="171232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ChemAI</a:t>
            </a:r>
            <a:r>
              <a:rPr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Predict the Cure   ·   </a:t>
            </a:r>
            <a:r>
              <a: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/6</a:t>
            </a:r>
          </a:p>
        </p:txBody>
      </p:sp>
    </p:spTree>
    <p:extLst>
      <p:ext uri="{BB962C8B-B14F-4D97-AF65-F5344CB8AC3E}">
        <p14:creationId xmlns:p14="http://schemas.microsoft.com/office/powerpoint/2010/main" val="3877438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465A6-F40E-96C0-8ADC-E3A10A630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ChEMBL</a:t>
            </a:r>
            <a:r>
              <a:rPr lang="ru-RU" dirty="0"/>
              <a:t> как мета-признак для CC50</a:t>
            </a:r>
            <a:br>
              <a:rPr lang="en-US" dirty="0"/>
            </a:br>
            <a:r>
              <a:rPr lang="ru-RU" sz="2200" dirty="0">
                <a:solidFill>
                  <a:schemeClr val="accent2"/>
                </a:solidFill>
              </a:rPr>
              <a:t>Внешние данные согласованы с преподавателем · источник: публичная база </a:t>
            </a:r>
            <a:r>
              <a:rPr lang="ru-RU" sz="2200" dirty="0" err="1">
                <a:solidFill>
                  <a:schemeClr val="accent2"/>
                </a:solidFill>
              </a:rPr>
              <a:t>ChEMBL</a:t>
            </a:r>
            <a:r>
              <a:rPr lang="ru-RU" sz="2200" dirty="0">
                <a:solidFill>
                  <a:schemeClr val="accent2"/>
                </a:solidFill>
              </a:rPr>
              <a:t> · </a:t>
            </a:r>
            <a:r>
              <a:rPr lang="ru-RU" sz="2200" dirty="0" err="1">
                <a:solidFill>
                  <a:schemeClr val="accent2"/>
                </a:solidFill>
              </a:rPr>
              <a:t>test</a:t>
            </a:r>
            <a:r>
              <a:rPr lang="ru-RU" sz="2200" dirty="0">
                <a:solidFill>
                  <a:schemeClr val="accent2"/>
                </a:solidFill>
              </a:rPr>
              <a:t>-ответы не используются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89C746-FD61-C602-D4E0-642F615874DB}"/>
              </a:ext>
            </a:extLst>
          </p:cNvPr>
          <p:cNvSpPr txBox="1"/>
          <p:nvPr/>
        </p:nvSpPr>
        <p:spPr>
          <a:xfrm>
            <a:off x="375385" y="2016493"/>
            <a:ext cx="53949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1F2937"/>
                </a:solidFill>
                <a:latin typeface="Corbel" panose="020B0503020204020204" pitchFamily="34" charset="0"/>
              </a:rPr>
              <a:t>Откуда</a:t>
            </a:r>
            <a:r>
              <a:rPr sz="1600" b="1" dirty="0">
                <a:solidFill>
                  <a:srgbClr val="1F2937"/>
                </a:solidFill>
                <a:latin typeface="Corbel" panose="020B0503020204020204" pitchFamily="34" charset="0"/>
              </a:rPr>
              <a:t> </a:t>
            </a:r>
            <a:r>
              <a:rPr sz="1600" b="1" dirty="0" err="1">
                <a:solidFill>
                  <a:srgbClr val="1F2937"/>
                </a:solidFill>
                <a:latin typeface="Corbel" panose="020B0503020204020204" pitchFamily="34" charset="0"/>
              </a:rPr>
              <a:t>данные</a:t>
            </a:r>
            <a:r>
              <a:rPr sz="1600" b="1" dirty="0">
                <a:solidFill>
                  <a:srgbClr val="1F2937"/>
                </a:solidFill>
                <a:latin typeface="Corbel" panose="020B0503020204020204" pitchFamily="34" charset="0"/>
              </a:rPr>
              <a:t>:</a:t>
            </a:r>
          </a:p>
          <a:p>
            <a:r>
              <a:rPr sz="1600" dirty="0" err="1">
                <a:solidFill>
                  <a:srgbClr val="1F2937"/>
                </a:solidFill>
                <a:latin typeface="Corbel" panose="020B0503020204020204" pitchFamily="34" charset="0"/>
              </a:rPr>
              <a:t>ChEMBL</a:t>
            </a:r>
            <a:r>
              <a:rPr sz="1600" dirty="0">
                <a:solidFill>
                  <a:srgbClr val="1F2937"/>
                </a:solidFill>
                <a:latin typeface="Corbel" panose="020B0503020204020204" pitchFamily="34" charset="0"/>
              </a:rPr>
              <a:t> query, limit 2000 → 1271 strict cytotoxicity rows</a:t>
            </a:r>
          </a:p>
          <a:p>
            <a:r>
              <a:rPr sz="1600" dirty="0" err="1">
                <a:solidFill>
                  <a:srgbClr val="1F2937"/>
                </a:solidFill>
                <a:latin typeface="Corbel" panose="020B0503020204020204" pitchFamily="34" charset="0"/>
              </a:rPr>
              <a:t>Только</a:t>
            </a:r>
            <a:r>
              <a:rPr sz="1600" dirty="0">
                <a:solidFill>
                  <a:srgbClr val="1F2937"/>
                </a:solidFill>
                <a:latin typeface="Corbel" panose="020B0503020204020204" pitchFamily="34" charset="0"/>
              </a:rPr>
              <a:t> CC50 / TC50 / LC50 и relation “=”</a:t>
            </a:r>
          </a:p>
          <a:p>
            <a:r>
              <a:rPr sz="1600" dirty="0" err="1">
                <a:solidFill>
                  <a:srgbClr val="1F2937"/>
                </a:solidFill>
                <a:latin typeface="Corbel" panose="020B0503020204020204" pitchFamily="34" charset="0"/>
              </a:rPr>
              <a:t>Единицы</a:t>
            </a:r>
            <a:r>
              <a:rPr sz="1600" dirty="0">
                <a:solidFill>
                  <a:srgbClr val="1F2937"/>
                </a:solidFill>
                <a:latin typeface="Corbel" panose="020B0503020204020204" pitchFamily="34" charset="0"/>
              </a:rPr>
              <a:t> → µM, valid SMILES + </a:t>
            </a:r>
            <a:r>
              <a:rPr sz="1600" dirty="0" err="1">
                <a:solidFill>
                  <a:srgbClr val="1F2937"/>
                </a:solidFill>
                <a:latin typeface="Corbel" panose="020B0503020204020204" pitchFamily="34" charset="0"/>
              </a:rPr>
              <a:t>RDKit</a:t>
            </a:r>
            <a:r>
              <a:rPr sz="1600" dirty="0">
                <a:solidFill>
                  <a:srgbClr val="1F2937"/>
                </a:solidFill>
                <a:latin typeface="Corbel" panose="020B0503020204020204" pitchFamily="34" charset="0"/>
              </a:rPr>
              <a:t> descriptors</a:t>
            </a:r>
          </a:p>
          <a:p>
            <a:r>
              <a:rPr sz="1600" dirty="0" err="1">
                <a:solidFill>
                  <a:srgbClr val="1F2937"/>
                </a:solidFill>
                <a:latin typeface="Corbel" panose="020B0503020204020204" pitchFamily="34" charset="0"/>
              </a:rPr>
              <a:t>Агрегация</a:t>
            </a:r>
            <a:r>
              <a:rPr sz="1600" dirty="0">
                <a:solidFill>
                  <a:srgbClr val="1F2937"/>
                </a:solidFill>
                <a:latin typeface="Corbel" panose="020B0503020204020204" pitchFamily="34" charset="0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Corbel" panose="020B0503020204020204" pitchFamily="34" charset="0"/>
              </a:rPr>
              <a:t>медианой</a:t>
            </a:r>
            <a:r>
              <a:rPr sz="1600" dirty="0">
                <a:solidFill>
                  <a:srgbClr val="1F2937"/>
                </a:solidFill>
                <a:latin typeface="Corbel" panose="020B0503020204020204" pitchFamily="34" charset="0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Corbel" panose="020B0503020204020204" pitchFamily="34" charset="0"/>
              </a:rPr>
              <a:t>по</a:t>
            </a:r>
            <a:r>
              <a:rPr sz="1600" dirty="0">
                <a:solidFill>
                  <a:srgbClr val="1F2937"/>
                </a:solidFill>
                <a:latin typeface="Corbel" panose="020B0503020204020204" pitchFamily="34" charset="0"/>
              </a:rPr>
              <a:t> canonical SMILES → 982 rows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A9E9FCD-5931-A2C7-0712-86A7F086167B}"/>
              </a:ext>
            </a:extLst>
          </p:cNvPr>
          <p:cNvSpPr/>
          <p:nvPr/>
        </p:nvSpPr>
        <p:spPr>
          <a:xfrm>
            <a:off x="459605" y="3429000"/>
            <a:ext cx="5029200" cy="936022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chemeClr val="tx1"/>
                </a:solidFill>
              </a:rPr>
              <a:t>Прямой подход: </a:t>
            </a:r>
            <a:r>
              <a:rPr lang="ru-RU" sz="1600" dirty="0">
                <a:solidFill>
                  <a:schemeClr val="tx1"/>
                </a:solidFill>
              </a:rPr>
              <a:t>добавить </a:t>
            </a:r>
            <a:r>
              <a:rPr lang="ru-RU" sz="1600" dirty="0" err="1">
                <a:solidFill>
                  <a:schemeClr val="tx1"/>
                </a:solidFill>
              </a:rPr>
              <a:t>ChEMBL</a:t>
            </a:r>
            <a:r>
              <a:rPr lang="ru-RU" sz="1600" dirty="0">
                <a:solidFill>
                  <a:schemeClr val="tx1"/>
                </a:solidFill>
              </a:rPr>
              <a:t> строки в </a:t>
            </a:r>
            <a:r>
              <a:rPr lang="ru-RU" sz="1600" dirty="0" err="1">
                <a:solidFill>
                  <a:schemeClr val="tx1"/>
                </a:solidFill>
              </a:rPr>
              <a:t>train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ru-RU" sz="1600" dirty="0">
                <a:solidFill>
                  <a:schemeClr val="tx1"/>
                </a:solidFill>
              </a:rPr>
              <a:t>OOF CC50: 500.7 → 557.8  (+57) ✗  Шкалы и условия разные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3920DC44-BCCC-6FC3-C5A6-114962D0E73A}"/>
              </a:ext>
            </a:extLst>
          </p:cNvPr>
          <p:cNvSpPr/>
          <p:nvPr/>
        </p:nvSpPr>
        <p:spPr>
          <a:xfrm>
            <a:off x="459605" y="4496167"/>
            <a:ext cx="5029200" cy="1920240"/>
          </a:xfrm>
          <a:prstGeom prst="rect">
            <a:avLst/>
          </a:prstGeom>
          <a:solidFill>
            <a:srgbClr val="EE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chemeClr val="tx1"/>
                </a:solidFill>
              </a:rPr>
              <a:t>Наш подход: мета-признак</a:t>
            </a:r>
            <a:endParaRPr lang="en-US" sz="1600" b="1" dirty="0">
              <a:solidFill>
                <a:schemeClr val="tx1"/>
              </a:solidFill>
            </a:endParaRPr>
          </a:p>
          <a:p>
            <a:r>
              <a:rPr lang="en-US" sz="1600" dirty="0" err="1">
                <a:solidFill>
                  <a:schemeClr val="tx1"/>
                </a:solidFill>
              </a:rPr>
              <a:t>ChEMBL</a:t>
            </a:r>
            <a:r>
              <a:rPr lang="en-US" sz="1600" dirty="0">
                <a:solidFill>
                  <a:schemeClr val="tx1"/>
                </a:solidFill>
              </a:rPr>
              <a:t>  →  </a:t>
            </a:r>
            <a:r>
              <a:rPr lang="en-US" sz="1600" dirty="0" err="1">
                <a:solidFill>
                  <a:schemeClr val="tx1"/>
                </a:solidFill>
              </a:rPr>
              <a:t>ExtraTrees</a:t>
            </a:r>
            <a:r>
              <a:rPr lang="en-US" sz="1600" dirty="0">
                <a:solidFill>
                  <a:schemeClr val="tx1"/>
                </a:solidFill>
              </a:rPr>
              <a:t>  →  external_cc50_prediction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ru-RU" sz="1600" dirty="0">
                <a:solidFill>
                  <a:schemeClr val="tx1"/>
                </a:solidFill>
              </a:rPr>
              <a:t>external_cc50_prediction  =  +1 колонка к признакам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[features + external]  →  </a:t>
            </a:r>
            <a:r>
              <a:rPr lang="en-US" sz="1600" dirty="0" err="1">
                <a:solidFill>
                  <a:schemeClr val="tx1"/>
                </a:solidFill>
              </a:rPr>
              <a:t>ExtraTrees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ru-RU" sz="1600" dirty="0">
                <a:solidFill>
                  <a:schemeClr val="tx1"/>
                </a:solidFill>
              </a:rPr>
              <a:t>на </a:t>
            </a:r>
            <a:r>
              <a:rPr lang="en-US" sz="1600" dirty="0">
                <a:solidFill>
                  <a:schemeClr val="tx1"/>
                </a:solidFill>
              </a:rPr>
              <a:t>competition train  →  CC50</a:t>
            </a:r>
          </a:p>
          <a:p>
            <a:r>
              <a:rPr lang="en-US" sz="1600" dirty="0">
                <a:solidFill>
                  <a:schemeClr val="tx1"/>
                </a:solidFill>
              </a:rPr>
              <a:t>Test-</a:t>
            </a:r>
            <a:r>
              <a:rPr lang="ru-RU" sz="1600" dirty="0">
                <a:solidFill>
                  <a:schemeClr val="tx1"/>
                </a:solidFill>
              </a:rPr>
              <a:t>ответы нигде не используются ✓</a:t>
            </a:r>
          </a:p>
        </p:txBody>
      </p:sp>
      <p:sp>
        <p:nvSpPr>
          <p:cNvPr id="7" name="Rectangle 49">
            <a:extLst>
              <a:ext uri="{FF2B5EF4-FFF2-40B4-BE49-F238E27FC236}">
                <a16:creationId xmlns:a16="http://schemas.microsoft.com/office/drawing/2014/main" id="{ED779EE9-3E6A-43B3-9F10-DD1F767BFDA8}"/>
              </a:ext>
            </a:extLst>
          </p:cNvPr>
          <p:cNvSpPr/>
          <p:nvPr/>
        </p:nvSpPr>
        <p:spPr>
          <a:xfrm>
            <a:off x="6214712" y="4724802"/>
            <a:ext cx="5517682" cy="12801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Результат: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OOF </a:t>
            </a:r>
            <a:r>
              <a:rPr lang="ru-RU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нейтрален (−0.6)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Public: 265.3 → 264.3  (−1.0)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Scale = 20 </a:t>
            </a:r>
            <a:r>
              <a:rPr lang="ru-RU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выбран по 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OOF.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7">
            <a:extLst>
              <a:ext uri="{FF2B5EF4-FFF2-40B4-BE49-F238E27FC236}">
                <a16:creationId xmlns:a16="http://schemas.microsoft.com/office/drawing/2014/main" id="{87D97D1C-201A-2C9F-F3CC-4E3B45E61A62}"/>
              </a:ext>
            </a:extLst>
          </p:cNvPr>
          <p:cNvSpPr/>
          <p:nvPr/>
        </p:nvSpPr>
        <p:spPr>
          <a:xfrm>
            <a:off x="6154554" y="2016493"/>
            <a:ext cx="5577840" cy="3474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  <a:p>
            <a:r>
              <a:rPr lang="ru-RU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Сравнение схем интеграции (OOF RMSE CC50)</a:t>
            </a:r>
          </a:p>
          <a:p>
            <a:pPr algn="ctr"/>
            <a:endParaRPr dirty="0"/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D1892A0F-DEEA-BDCF-4761-2CD392311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760606"/>
              </p:ext>
            </p:extLst>
          </p:nvPr>
        </p:nvGraphicFramePr>
        <p:xfrm>
          <a:off x="6154555" y="2395061"/>
          <a:ext cx="5577840" cy="209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4856">
                  <a:extLst>
                    <a:ext uri="{9D8B030D-6E8A-4147-A177-3AD203B41FA5}">
                      <a16:colId xmlns:a16="http://schemas.microsoft.com/office/drawing/2014/main" val="4272064837"/>
                    </a:ext>
                  </a:extLst>
                </a:gridCol>
                <a:gridCol w="1571669">
                  <a:extLst>
                    <a:ext uri="{9D8B030D-6E8A-4147-A177-3AD203B41FA5}">
                      <a16:colId xmlns:a16="http://schemas.microsoft.com/office/drawing/2014/main" val="1502129374"/>
                    </a:ext>
                  </a:extLst>
                </a:gridCol>
                <a:gridCol w="1311315">
                  <a:extLst>
                    <a:ext uri="{9D8B030D-6E8A-4147-A177-3AD203B41FA5}">
                      <a16:colId xmlns:a16="http://schemas.microsoft.com/office/drawing/2014/main" val="3684133484"/>
                    </a:ext>
                  </a:extLst>
                </a:gridCol>
              </a:tblGrid>
              <a:tr h="419795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Схема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OOF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618550"/>
                  </a:ext>
                </a:extLst>
              </a:tr>
              <a:tr h="41979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baseline </a:t>
                      </a:r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без 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external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500.7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495268"/>
                  </a:ext>
                </a:extLst>
              </a:tr>
              <a:tr h="41979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external rows </a:t>
                      </a:r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напрямую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557.8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+57.1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929241"/>
                  </a:ext>
                </a:extLst>
              </a:tr>
              <a:tr h="419795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мета-признак, 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scale =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501.4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+0.7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905943"/>
                  </a:ext>
                </a:extLst>
              </a:tr>
              <a:tr h="41979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мета-признак, 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scale = 20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500.1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-0.6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19247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54A2544-24A9-A0D8-11B8-587100D9413A}"/>
              </a:ext>
            </a:extLst>
          </p:cNvPr>
          <p:cNvSpPr txBox="1"/>
          <p:nvPr/>
        </p:nvSpPr>
        <p:spPr>
          <a:xfrm>
            <a:off x="274320" y="6556248"/>
            <a:ext cx="171232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ChemAI</a:t>
            </a:r>
            <a:r>
              <a:rPr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Predict the Cure   ·   </a:t>
            </a:r>
            <a:r>
              <a: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/6</a:t>
            </a:r>
          </a:p>
        </p:txBody>
      </p:sp>
      <p:sp>
        <p:nvSpPr>
          <p:cNvPr id="11" name="Rectangle 50">
            <a:extLst>
              <a:ext uri="{FF2B5EF4-FFF2-40B4-BE49-F238E27FC236}">
                <a16:creationId xmlns:a16="http://schemas.microsoft.com/office/drawing/2014/main" id="{01B34F42-07B5-93B9-6268-761F6C70ABD8}"/>
              </a:ext>
            </a:extLst>
          </p:cNvPr>
          <p:cNvSpPr/>
          <p:nvPr/>
        </p:nvSpPr>
        <p:spPr>
          <a:xfrm>
            <a:off x="6159847" y="4724802"/>
            <a:ext cx="54864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D2C866A2-CA91-F5B3-694C-DD83DB73D31D}"/>
              </a:ext>
            </a:extLst>
          </p:cNvPr>
          <p:cNvSpPr/>
          <p:nvPr/>
        </p:nvSpPr>
        <p:spPr>
          <a:xfrm>
            <a:off x="375385" y="3429000"/>
            <a:ext cx="84220" cy="936022"/>
          </a:xfrm>
          <a:prstGeom prst="rect">
            <a:avLst/>
          </a:prstGeom>
          <a:solidFill>
            <a:srgbClr val="C03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00D7C3C-D07C-0F05-4A35-23627E22CA5E}"/>
              </a:ext>
            </a:extLst>
          </p:cNvPr>
          <p:cNvSpPr/>
          <p:nvPr/>
        </p:nvSpPr>
        <p:spPr>
          <a:xfrm>
            <a:off x="390063" y="4486042"/>
            <a:ext cx="54864" cy="1920240"/>
          </a:xfrm>
          <a:prstGeom prst="rect">
            <a:avLst/>
          </a:prstGeom>
          <a:solidFill>
            <a:srgbClr val="1A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23178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FA2382-B81B-7586-4F6E-38919C5CC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итоги</a:t>
            </a:r>
          </a:p>
        </p:txBody>
      </p:sp>
      <p:sp>
        <p:nvSpPr>
          <p:cNvPr id="4" name="Rectangle 36">
            <a:extLst>
              <a:ext uri="{FF2B5EF4-FFF2-40B4-BE49-F238E27FC236}">
                <a16:creationId xmlns:a16="http://schemas.microsoft.com/office/drawing/2014/main" id="{69556191-EA93-2D18-42B7-1EE65F4CB4D4}"/>
              </a:ext>
            </a:extLst>
          </p:cNvPr>
          <p:cNvSpPr/>
          <p:nvPr/>
        </p:nvSpPr>
        <p:spPr>
          <a:xfrm>
            <a:off x="8061158" y="1907093"/>
            <a:ext cx="3681663" cy="45384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Основные выводы</a:t>
            </a:r>
          </a:p>
          <a:p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Где живёт выигрыш</a:t>
            </a:r>
          </a:p>
          <a:p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Основной скачок — из модельных решений:</a:t>
            </a:r>
          </a:p>
          <a:p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ансамбль + </a:t>
            </a:r>
            <a:r>
              <a:rPr lang="ru-RU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target-transform</a:t>
            </a: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для SI.</a:t>
            </a:r>
          </a:p>
          <a:p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Валидация</a:t>
            </a:r>
          </a:p>
          <a:p>
            <a:r>
              <a:rPr lang="ru-RU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GroupKFold</a:t>
            </a: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по дубликатам — обязателен.</a:t>
            </a:r>
          </a:p>
          <a:p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Обычный </a:t>
            </a:r>
            <a:r>
              <a:rPr lang="ru-RU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KFold</a:t>
            </a: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завышает оценку.</a:t>
            </a:r>
          </a:p>
          <a:p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Внешние данные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Важна схема включения: мета-признак</a:t>
            </a:r>
          </a:p>
          <a:p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лучше прямого добавления в </a:t>
            </a:r>
            <a:r>
              <a:rPr lang="ru-RU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</a:t>
            </a: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826840A4-2AA2-BC63-93DC-2B2FE1E19DD6}"/>
              </a:ext>
            </a:extLst>
          </p:cNvPr>
          <p:cNvSpPr/>
          <p:nvPr/>
        </p:nvSpPr>
        <p:spPr>
          <a:xfrm>
            <a:off x="449175" y="3913280"/>
            <a:ext cx="6649453" cy="347472"/>
          </a:xfrm>
          <a:prstGeom prst="rect">
            <a:avLst/>
          </a:prstGeom>
          <a:solidFill>
            <a:srgbClr val="2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Намеренно не делали</a:t>
            </a:r>
          </a:p>
          <a:p>
            <a:pPr algn="ctr"/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D692A3-0E29-1FF3-23BA-14EED9237BAE}"/>
              </a:ext>
            </a:extLst>
          </p:cNvPr>
          <p:cNvSpPr txBox="1"/>
          <p:nvPr/>
        </p:nvSpPr>
        <p:spPr>
          <a:xfrm>
            <a:off x="449175" y="4263698"/>
            <a:ext cx="66494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✗  Ручная правка отдельных строк</a:t>
            </a:r>
          </a:p>
          <a:p>
            <a:r>
              <a:rPr lang="ru-RU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✗  </a:t>
            </a: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Exact-match correction </a:t>
            </a:r>
            <a:r>
              <a:rPr lang="ru-RU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 дубликатам</a:t>
            </a:r>
          </a:p>
          <a:p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  External data — </a:t>
            </a:r>
            <a:r>
              <a:rPr lang="ru-RU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только </a:t>
            </a: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meta-signal, </a:t>
            </a:r>
            <a:r>
              <a:rPr lang="ru-RU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 </a:t>
            </a: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lookup</a:t>
            </a:r>
          </a:p>
        </p:txBody>
      </p:sp>
      <p:sp>
        <p:nvSpPr>
          <p:cNvPr id="8" name="Rectangle 33">
            <a:extLst>
              <a:ext uri="{FF2B5EF4-FFF2-40B4-BE49-F238E27FC236}">
                <a16:creationId xmlns:a16="http://schemas.microsoft.com/office/drawing/2014/main" id="{1BC3C921-7446-D0E4-A792-2DBA5A0EDDB6}"/>
              </a:ext>
            </a:extLst>
          </p:cNvPr>
          <p:cNvSpPr/>
          <p:nvPr/>
        </p:nvSpPr>
        <p:spPr>
          <a:xfrm>
            <a:off x="581192" y="5364223"/>
            <a:ext cx="6517436" cy="1081275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Финальный</a:t>
            </a: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submission: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submission_raw_best_cc50ext_b15.csv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score:  ~264.3</a:t>
            </a:r>
            <a:r>
              <a:rPr lang="ru-RU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checked b15: 264.305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D451C9F7-97A6-D934-978F-5059B0CB53F8}"/>
              </a:ext>
            </a:extLst>
          </p:cNvPr>
          <p:cNvSpPr/>
          <p:nvPr/>
        </p:nvSpPr>
        <p:spPr>
          <a:xfrm>
            <a:off x="449178" y="1907093"/>
            <a:ext cx="6649454" cy="3474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Прогресс по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score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2FDA1981-BD72-7B7B-21CB-6141EE8C9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532813"/>
              </p:ext>
            </p:extLst>
          </p:nvPr>
        </p:nvGraphicFramePr>
        <p:xfrm>
          <a:off x="449175" y="2273815"/>
          <a:ext cx="664945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5431">
                  <a:extLst>
                    <a:ext uri="{9D8B030D-6E8A-4147-A177-3AD203B41FA5}">
                      <a16:colId xmlns:a16="http://schemas.microsoft.com/office/drawing/2014/main" val="134925426"/>
                    </a:ext>
                  </a:extLst>
                </a:gridCol>
                <a:gridCol w="1286568">
                  <a:extLst>
                    <a:ext uri="{9D8B030D-6E8A-4147-A177-3AD203B41FA5}">
                      <a16:colId xmlns:a16="http://schemas.microsoft.com/office/drawing/2014/main" val="4012272210"/>
                    </a:ext>
                  </a:extLst>
                </a:gridCol>
                <a:gridCol w="1087454">
                  <a:extLst>
                    <a:ext uri="{9D8B030D-6E8A-4147-A177-3AD203B41FA5}">
                      <a16:colId xmlns:a16="http://schemas.microsoft.com/office/drawing/2014/main" val="33775602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Шаг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Public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33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CatBoost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727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raw ensemble + cap IC50 + SI blend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265.3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-38.3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338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+ </a:t>
                      </a:r>
                      <a:r>
                        <a:rPr lang="en-US" sz="16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ChEMBL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CC50 </a:t>
                      </a:r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мета-признак  ✓ финал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264.3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-1.0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738202"/>
                  </a:ext>
                </a:extLst>
              </a:tr>
            </a:tbl>
          </a:graphicData>
        </a:graphic>
      </p:graphicFrame>
      <p:sp>
        <p:nvSpPr>
          <p:cNvPr id="11" name="Rectangle 34">
            <a:extLst>
              <a:ext uri="{FF2B5EF4-FFF2-40B4-BE49-F238E27FC236}">
                <a16:creationId xmlns:a16="http://schemas.microsoft.com/office/drawing/2014/main" id="{605760A3-AA67-7AAC-F1C8-98C2AC5F7FA2}"/>
              </a:ext>
            </a:extLst>
          </p:cNvPr>
          <p:cNvSpPr/>
          <p:nvPr/>
        </p:nvSpPr>
        <p:spPr>
          <a:xfrm>
            <a:off x="449175" y="5364223"/>
            <a:ext cx="132017" cy="1081275"/>
          </a:xfrm>
          <a:prstGeom prst="rect">
            <a:avLst/>
          </a:prstGeom>
          <a:solidFill>
            <a:srgbClr val="1A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9E48C2-619B-C018-C0F4-3F04F9EDF10F}"/>
              </a:ext>
            </a:extLst>
          </p:cNvPr>
          <p:cNvSpPr txBox="1"/>
          <p:nvPr/>
        </p:nvSpPr>
        <p:spPr>
          <a:xfrm>
            <a:off x="274320" y="6556248"/>
            <a:ext cx="171232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ChemAI</a:t>
            </a:r>
            <a:r>
              <a:rPr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Predict the Cure   ·   </a:t>
            </a:r>
            <a:r>
              <a: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/6</a:t>
            </a:r>
          </a:p>
        </p:txBody>
      </p:sp>
    </p:spTree>
    <p:extLst>
      <p:ext uri="{BB962C8B-B14F-4D97-AF65-F5344CB8AC3E}">
        <p14:creationId xmlns:p14="http://schemas.microsoft.com/office/powerpoint/2010/main" val="2158245603"/>
      </p:ext>
    </p:extLst>
  </p:cSld>
  <p:clrMapOvr>
    <a:masterClrMapping/>
  </p:clrMapOvr>
</p:sld>
</file>

<file path=ppt/theme/theme1.xml><?xml version="1.0" encoding="utf-8"?>
<a:theme xmlns:a="http://schemas.openxmlformats.org/drawingml/2006/main" name="Дивиденд">
  <a:themeElements>
    <a:clrScheme name="Дивиденд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Дивиденд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Дивиденд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TM03457464[[fn=Дивиденд]]</Template>
  <TotalTime>176</TotalTime>
  <Words>841</Words>
  <Application>Microsoft Macintosh PowerPoint</Application>
  <PresentationFormat>Широкоэкранный</PresentationFormat>
  <Paragraphs>150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Calibri</vt:lpstr>
      <vt:lpstr>Corbel</vt:lpstr>
      <vt:lpstr>Gill Sans MT</vt:lpstr>
      <vt:lpstr>Wingdings</vt:lpstr>
      <vt:lpstr>Wingdings 2</vt:lpstr>
      <vt:lpstr>Дивиденд</vt:lpstr>
      <vt:lpstr>ChemAI: Predict the Cure Предсказание противовирусной активности молекул</vt:lpstr>
      <vt:lpstr>Задача и данные</vt:lpstr>
      <vt:lpstr>Валидация и модели</vt:lpstr>
      <vt:lpstr>Pipeline end-to-end</vt:lpstr>
      <vt:lpstr>ChEMBL как мета-признак для CC50 Внешние данные согласованы с преподавателем · источник: публичная база ChEMBL · test-ответы не используются</vt:lpstr>
      <vt:lpstr>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Виктория Шинкаренко</dc:creator>
  <cp:lastModifiedBy>Andrei Gorelikov</cp:lastModifiedBy>
  <cp:revision>2</cp:revision>
  <dcterms:created xsi:type="dcterms:W3CDTF">2026-05-30T17:40:29Z</dcterms:created>
  <dcterms:modified xsi:type="dcterms:W3CDTF">2026-05-31T05:25:59Z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54b7cbc-c708-4bae-92f9-e7d5cd5d68c6_Enabled">
    <vt:lpwstr>true</vt:lpwstr>
  </property>
  <property fmtid="{D5CDD505-2E9C-101B-9397-08002B2CF9AE}" pid="3" name="MSIP_Label_054b7cbc-c708-4bae-92f9-e7d5cd5d68c6_SetDate">
    <vt:lpwstr>2026-05-31T05:25:59Z</vt:lpwstr>
  </property>
  <property fmtid="{D5CDD505-2E9C-101B-9397-08002B2CF9AE}" pid="4" name="MSIP_Label_054b7cbc-c708-4bae-92f9-e7d5cd5d68c6_Method">
    <vt:lpwstr>Standard</vt:lpwstr>
  </property>
  <property fmtid="{D5CDD505-2E9C-101B-9397-08002B2CF9AE}" pid="5" name="MSIP_Label_054b7cbc-c708-4bae-92f9-e7d5cd5d68c6_Name">
    <vt:lpwstr>Internal</vt:lpwstr>
  </property>
  <property fmtid="{D5CDD505-2E9C-101B-9397-08002B2CF9AE}" pid="6" name="MSIP_Label_054b7cbc-c708-4bae-92f9-e7d5cd5d68c6_SiteId">
    <vt:lpwstr>2a35d8fd-574d-48e3-927c-8c398e225a01</vt:lpwstr>
  </property>
  <property fmtid="{D5CDD505-2E9C-101B-9397-08002B2CF9AE}" pid="7" name="MSIP_Label_054b7cbc-c708-4bae-92f9-e7d5cd5d68c6_ActionId">
    <vt:lpwstr>0f0886ff-c392-4c22-b0ed-296a9429af25</vt:lpwstr>
  </property>
  <property fmtid="{D5CDD505-2E9C-101B-9397-08002B2CF9AE}" pid="8" name="MSIP_Label_054b7cbc-c708-4bae-92f9-e7d5cd5d68c6_ContentBits">
    <vt:lpwstr>0</vt:lpwstr>
  </property>
  <property fmtid="{D5CDD505-2E9C-101B-9397-08002B2CF9AE}" pid="9" name="MSIP_Label_054b7cbc-c708-4bae-92f9-e7d5cd5d68c6_Tag">
    <vt:lpwstr>50, 3, 0, 1</vt:lpwstr>
  </property>
</Properties>
</file>